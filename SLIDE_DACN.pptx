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bin" panose="020B0604020202020204" charset="0"/>
      <p:regular r:id="rId12"/>
    </p:embeddedFont>
    <p:embeddedFont>
      <p:font typeface="Cabin Bold" panose="020B0604020202020204" charset="0"/>
      <p:regular r:id="rId13"/>
    </p:embeddedFont>
    <p:embeddedFont>
      <p:font typeface="Montserrat" panose="00000500000000000000" pitchFamily="2" charset="0"/>
      <p:regular r:id="rId14"/>
    </p:embeddedFont>
    <p:embeddedFont>
      <p:font typeface="Noto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44326" y="83547"/>
            <a:ext cx="6485078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 b="1" spc="92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TRƯỜNG KỸ THUẬT VÀ CÔNG NGHỆ</a:t>
            </a:r>
          </a:p>
          <a:p>
            <a:pPr marL="0" lvl="0" indent="0" algn="ctr">
              <a:lnSpc>
                <a:spcPts val="3749"/>
              </a:lnSpc>
            </a:pPr>
            <a:r>
              <a:rPr lang="en-US" sz="2499" b="1" spc="92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KHOA CÔNG NHỆ THÔNG TIN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137608" y="7845834"/>
            <a:ext cx="23128778" cy="8012550"/>
            <a:chOff x="0" y="0"/>
            <a:chExt cx="30838370" cy="10683401"/>
          </a:xfrm>
        </p:grpSpPr>
        <p:grpSp>
          <p:nvGrpSpPr>
            <p:cNvPr id="4" name="Group 4"/>
            <p:cNvGrpSpPr/>
            <p:nvPr/>
          </p:nvGrpSpPr>
          <p:grpSpPr>
            <a:xfrm>
              <a:off x="2813439" y="2272603"/>
              <a:ext cx="24384000" cy="2758350"/>
              <a:chOff x="0" y="0"/>
              <a:chExt cx="4816593" cy="54485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54485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54485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544859"/>
                    </a:lnTo>
                    <a:lnTo>
                      <a:pt x="0" y="544859"/>
                    </a:lnTo>
                    <a:close/>
                  </a:path>
                </a:pathLst>
              </a:custGeom>
              <a:solidFill>
                <a:srgbClr val="F03F36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4816593" cy="5734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 flipV="1">
              <a:off x="0" y="1466774"/>
              <a:ext cx="10472889" cy="8568728"/>
            </a:xfrm>
            <a:custGeom>
              <a:avLst/>
              <a:gdLst/>
              <a:ahLst/>
              <a:cxnLst/>
              <a:rect l="l" t="t" r="r" b="b"/>
              <a:pathLst>
                <a:path w="10472889" h="8568728">
                  <a:moveTo>
                    <a:pt x="0" y="8568727"/>
                  </a:moveTo>
                  <a:lnTo>
                    <a:pt x="10472889" y="8568727"/>
                  </a:lnTo>
                  <a:lnTo>
                    <a:pt x="10472889" y="0"/>
                  </a:lnTo>
                  <a:lnTo>
                    <a:pt x="0" y="0"/>
                  </a:lnTo>
                  <a:lnTo>
                    <a:pt x="0" y="85687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10713287" flipV="1">
              <a:off x="10579279" y="1983968"/>
              <a:ext cx="10472889" cy="8568728"/>
            </a:xfrm>
            <a:custGeom>
              <a:avLst/>
              <a:gdLst/>
              <a:ahLst/>
              <a:cxnLst/>
              <a:rect l="l" t="t" r="r" b="b"/>
              <a:pathLst>
                <a:path w="10472889" h="8568728">
                  <a:moveTo>
                    <a:pt x="0" y="8568728"/>
                  </a:moveTo>
                  <a:lnTo>
                    <a:pt x="10472889" y="8568728"/>
                  </a:lnTo>
                  <a:lnTo>
                    <a:pt x="10472889" y="0"/>
                  </a:lnTo>
                  <a:lnTo>
                    <a:pt x="0" y="0"/>
                  </a:lnTo>
                  <a:lnTo>
                    <a:pt x="0" y="856872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24899" flipV="1">
              <a:off x="19774774" y="746590"/>
              <a:ext cx="10472889" cy="8568728"/>
            </a:xfrm>
            <a:custGeom>
              <a:avLst/>
              <a:gdLst/>
              <a:ahLst/>
              <a:cxnLst/>
              <a:rect l="l" t="t" r="r" b="b"/>
              <a:pathLst>
                <a:path w="10472889" h="8568728">
                  <a:moveTo>
                    <a:pt x="0" y="8568727"/>
                  </a:moveTo>
                  <a:lnTo>
                    <a:pt x="10472889" y="8568727"/>
                  </a:lnTo>
                  <a:lnTo>
                    <a:pt x="10472889" y="0"/>
                  </a:lnTo>
                  <a:lnTo>
                    <a:pt x="0" y="0"/>
                  </a:lnTo>
                  <a:lnTo>
                    <a:pt x="0" y="85687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5263" r="-526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28700" y="8349775"/>
            <a:ext cx="7074002" cy="908525"/>
            <a:chOff x="0" y="0"/>
            <a:chExt cx="9432003" cy="121136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535091"/>
              <a:ext cx="9432003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Huỳnh Hữu Lộc - DA22TTA - 110122104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9432003" cy="503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99"/>
                </a:lnSpc>
                <a:spcBef>
                  <a:spcPct val="0"/>
                </a:spcBef>
              </a:pPr>
              <a:r>
                <a:rPr lang="en-US" sz="2124" b="1">
                  <a:solidFill>
                    <a:srgbClr val="000000"/>
                  </a:solidFill>
                  <a:latin typeface="Cabin Bold"/>
                  <a:ea typeface="Cabin Bold"/>
                  <a:cs typeface="Cabin Bold"/>
                  <a:sym typeface="Cabin Bold"/>
                </a:rPr>
                <a:t>SINH VIÊN THỰC HIỆN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667548" y="8227910"/>
            <a:ext cx="3695922" cy="1030390"/>
            <a:chOff x="0" y="0"/>
            <a:chExt cx="4927896" cy="1373854"/>
          </a:xfrm>
        </p:grpSpPr>
        <p:sp>
          <p:nvSpPr>
            <p:cNvPr id="14" name="TextBox 14"/>
            <p:cNvSpPr txBox="1"/>
            <p:nvPr/>
          </p:nvSpPr>
          <p:spPr>
            <a:xfrm>
              <a:off x="0" y="707104"/>
              <a:ext cx="4927896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Ts. Nguyễn Bảo Ân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8735"/>
              <a:ext cx="4927896" cy="520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1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GIẢNG VIÊN HƯỚNG DẪN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446401" y="1833746"/>
            <a:ext cx="7395199" cy="66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499" b="1" spc="115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BÁO CÁO ĐỒ ÁN CHUYÊN NGÀNH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11480" y="3287233"/>
            <a:ext cx="15665039" cy="3712535"/>
            <a:chOff x="0" y="0"/>
            <a:chExt cx="20886719" cy="4950047"/>
          </a:xfrm>
        </p:grpSpPr>
        <p:sp>
          <p:nvSpPr>
            <p:cNvPr id="18" name="TextBox 18"/>
            <p:cNvSpPr txBox="1"/>
            <p:nvPr/>
          </p:nvSpPr>
          <p:spPr>
            <a:xfrm>
              <a:off x="0" y="640571"/>
              <a:ext cx="20886719" cy="4309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605"/>
                </a:lnSpc>
              </a:pPr>
              <a:r>
                <a:rPr lang="en-US" sz="6723" spc="329">
                  <a:solidFill>
                    <a:srgbClr val="F03F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HỆ THỐNG TƯ VẤN VÀ BÁN </a:t>
              </a:r>
            </a:p>
            <a:p>
              <a:pPr marL="0" lvl="0" indent="0" algn="ctr">
                <a:lnSpc>
                  <a:spcPts val="8605"/>
                </a:lnSpc>
              </a:pPr>
              <a:r>
                <a:rPr lang="en-US" sz="6723" spc="329">
                  <a:solidFill>
                    <a:srgbClr val="F03F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THUỐC BẢO VỆ THỰC VẬT THÔNG MINH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41219" y="-85725"/>
              <a:ext cx="9004281" cy="552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79"/>
                </a:lnSpc>
                <a:spcBef>
                  <a:spcPct val="0"/>
                </a:spcBef>
              </a:pPr>
              <a:r>
                <a:rPr lang="en-US" sz="2299" spc="75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ĐỀ TÀI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1636" y="2041008"/>
            <a:ext cx="6639684" cy="2032971"/>
            <a:chOff x="0" y="0"/>
            <a:chExt cx="1748723" cy="535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8723" cy="535433"/>
            </a:xfrm>
            <a:custGeom>
              <a:avLst/>
              <a:gdLst/>
              <a:ahLst/>
              <a:cxnLst/>
              <a:rect l="l" t="t" r="r" b="b"/>
              <a:pathLst>
                <a:path w="1748723" h="535433">
                  <a:moveTo>
                    <a:pt x="59466" y="0"/>
                  </a:moveTo>
                  <a:lnTo>
                    <a:pt x="1689257" y="0"/>
                  </a:lnTo>
                  <a:cubicBezTo>
                    <a:pt x="1722099" y="0"/>
                    <a:pt x="1748723" y="26624"/>
                    <a:pt x="1748723" y="59466"/>
                  </a:cubicBezTo>
                  <a:lnTo>
                    <a:pt x="1748723" y="475966"/>
                  </a:lnTo>
                  <a:cubicBezTo>
                    <a:pt x="1748723" y="508809"/>
                    <a:pt x="1722099" y="535433"/>
                    <a:pt x="1689257" y="535433"/>
                  </a:cubicBezTo>
                  <a:lnTo>
                    <a:pt x="59466" y="535433"/>
                  </a:lnTo>
                  <a:cubicBezTo>
                    <a:pt x="26624" y="535433"/>
                    <a:pt x="0" y="508809"/>
                    <a:pt x="0" y="475966"/>
                  </a:cubicBezTo>
                  <a:lnTo>
                    <a:pt x="0" y="59466"/>
                  </a:lnTo>
                  <a:cubicBezTo>
                    <a:pt x="0" y="26624"/>
                    <a:pt x="26624" y="0"/>
                    <a:pt x="59466" y="0"/>
                  </a:cubicBezTo>
                  <a:close/>
                </a:path>
              </a:pathLst>
            </a:custGeom>
            <a:solidFill>
              <a:srgbClr val="E5372E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748723" cy="621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99"/>
                </a:lnSpc>
                <a:spcBef>
                  <a:spcPct val="0"/>
                </a:spcBef>
              </a:pPr>
              <a:r>
                <a:rPr lang="en-US" sz="2999" b="1" u="none" strike="noStrike" spc="11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NÔNG DÂN THIẾU THÔNG TIN CHÍNH XÁC VỀ BỆNH CÂY TRỒNG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8404" y="2041008"/>
            <a:ext cx="6639684" cy="2032971"/>
            <a:chOff x="0" y="0"/>
            <a:chExt cx="1748723" cy="535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48723" cy="535433"/>
            </a:xfrm>
            <a:custGeom>
              <a:avLst/>
              <a:gdLst/>
              <a:ahLst/>
              <a:cxnLst/>
              <a:rect l="l" t="t" r="r" b="b"/>
              <a:pathLst>
                <a:path w="1748723" h="535433">
                  <a:moveTo>
                    <a:pt x="59466" y="0"/>
                  </a:moveTo>
                  <a:lnTo>
                    <a:pt x="1689257" y="0"/>
                  </a:lnTo>
                  <a:cubicBezTo>
                    <a:pt x="1722099" y="0"/>
                    <a:pt x="1748723" y="26624"/>
                    <a:pt x="1748723" y="59466"/>
                  </a:cubicBezTo>
                  <a:lnTo>
                    <a:pt x="1748723" y="475966"/>
                  </a:lnTo>
                  <a:cubicBezTo>
                    <a:pt x="1748723" y="508809"/>
                    <a:pt x="1722099" y="535433"/>
                    <a:pt x="1689257" y="535433"/>
                  </a:cubicBezTo>
                  <a:lnTo>
                    <a:pt x="59466" y="535433"/>
                  </a:lnTo>
                  <a:cubicBezTo>
                    <a:pt x="26624" y="535433"/>
                    <a:pt x="0" y="508809"/>
                    <a:pt x="0" y="475966"/>
                  </a:cubicBezTo>
                  <a:lnTo>
                    <a:pt x="0" y="59466"/>
                  </a:lnTo>
                  <a:cubicBezTo>
                    <a:pt x="0" y="26624"/>
                    <a:pt x="26624" y="0"/>
                    <a:pt x="59466" y="0"/>
                  </a:cubicBezTo>
                  <a:close/>
                </a:path>
              </a:pathLst>
            </a:custGeom>
            <a:solidFill>
              <a:srgbClr val="E5372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1748723" cy="621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99"/>
                </a:lnSpc>
              </a:pPr>
              <a:r>
                <a:rPr lang="en-US" sz="2999" b="1" spc="11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TƯ VẤN TRUYỀN THỐNG </a:t>
              </a:r>
            </a:p>
            <a:p>
              <a:pPr algn="ctr">
                <a:lnSpc>
                  <a:spcPts val="4499"/>
                </a:lnSpc>
              </a:pPr>
              <a:r>
                <a:rPr lang="en-US" sz="2999" b="1" spc="11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TRUYỀN MIỆNG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658449" y="4375464"/>
            <a:ext cx="971102" cy="1536072"/>
            <a:chOff x="0" y="0"/>
            <a:chExt cx="513851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3851" cy="812800"/>
            </a:xfrm>
            <a:custGeom>
              <a:avLst/>
              <a:gdLst/>
              <a:ahLst/>
              <a:cxnLst/>
              <a:rect l="l" t="t" r="r" b="b"/>
              <a:pathLst>
                <a:path w="513851" h="812800">
                  <a:moveTo>
                    <a:pt x="256925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310651" y="0"/>
                  </a:lnTo>
                  <a:lnTo>
                    <a:pt x="310651" y="406400"/>
                  </a:lnTo>
                  <a:lnTo>
                    <a:pt x="513851" y="406400"/>
                  </a:lnTo>
                  <a:lnTo>
                    <a:pt x="256925" y="812800"/>
                  </a:lnTo>
                  <a:close/>
                </a:path>
              </a:pathLst>
            </a:custGeom>
            <a:solidFill>
              <a:srgbClr val="F03F3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203200" y="-66675"/>
              <a:ext cx="107451" cy="77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49916" y="6263961"/>
            <a:ext cx="5788168" cy="1675334"/>
            <a:chOff x="0" y="0"/>
            <a:chExt cx="1524456" cy="4412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456" cy="441240"/>
            </a:xfrm>
            <a:custGeom>
              <a:avLst/>
              <a:gdLst/>
              <a:ahLst/>
              <a:cxnLst/>
              <a:rect l="l" t="t" r="r" b="b"/>
              <a:pathLst>
                <a:path w="1524456" h="441240">
                  <a:moveTo>
                    <a:pt x="68215" y="0"/>
                  </a:moveTo>
                  <a:lnTo>
                    <a:pt x="1456241" y="0"/>
                  </a:lnTo>
                  <a:cubicBezTo>
                    <a:pt x="1493915" y="0"/>
                    <a:pt x="1524456" y="30541"/>
                    <a:pt x="1524456" y="68215"/>
                  </a:cubicBezTo>
                  <a:lnTo>
                    <a:pt x="1524456" y="373026"/>
                  </a:lnTo>
                  <a:cubicBezTo>
                    <a:pt x="1524456" y="391117"/>
                    <a:pt x="1517269" y="408468"/>
                    <a:pt x="1504476" y="421261"/>
                  </a:cubicBezTo>
                  <a:cubicBezTo>
                    <a:pt x="1491683" y="434053"/>
                    <a:pt x="1474333" y="441240"/>
                    <a:pt x="1456241" y="441240"/>
                  </a:cubicBezTo>
                  <a:lnTo>
                    <a:pt x="68215" y="441240"/>
                  </a:lnTo>
                  <a:cubicBezTo>
                    <a:pt x="30541" y="441240"/>
                    <a:pt x="0" y="410699"/>
                    <a:pt x="0" y="373026"/>
                  </a:cubicBezTo>
                  <a:lnTo>
                    <a:pt x="0" y="68215"/>
                  </a:lnTo>
                  <a:cubicBezTo>
                    <a:pt x="0" y="30541"/>
                    <a:pt x="30541" y="0"/>
                    <a:pt x="68215" y="0"/>
                  </a:cubicBezTo>
                  <a:close/>
                </a:path>
              </a:pathLst>
            </a:custGeom>
            <a:solidFill>
              <a:srgbClr val="E5372E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1524456" cy="526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99"/>
                </a:lnSpc>
                <a:spcBef>
                  <a:spcPct val="0"/>
                </a:spcBef>
              </a:pPr>
              <a:r>
                <a:rPr lang="en-US" sz="2999" b="1" u="none" strike="noStrike" spc="11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DỄ DÙNG SAI THUỐC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29904" y="8991985"/>
            <a:ext cx="1261494" cy="795292"/>
            <a:chOff x="0" y="0"/>
            <a:chExt cx="812800" cy="5124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512419"/>
            </a:xfrm>
            <a:custGeom>
              <a:avLst/>
              <a:gdLst/>
              <a:ahLst/>
              <a:cxnLst/>
              <a:rect l="l" t="t" r="r" b="b"/>
              <a:pathLst>
                <a:path w="812800" h="512419">
                  <a:moveTo>
                    <a:pt x="812800" y="256209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09219"/>
                  </a:lnTo>
                  <a:lnTo>
                    <a:pt x="406400" y="309219"/>
                  </a:lnTo>
                  <a:lnTo>
                    <a:pt x="406400" y="512419"/>
                  </a:lnTo>
                  <a:lnTo>
                    <a:pt x="812800" y="2562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36525"/>
              <a:ext cx="711200" cy="172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08404" y="362474"/>
            <a:ext cx="7514715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30"/>
              </a:lnSpc>
            </a:pPr>
            <a:r>
              <a:rPr lang="en-US" sz="6275" b="1">
                <a:solidFill>
                  <a:srgbClr val="F03F36"/>
                </a:solidFill>
                <a:latin typeface="Cabin Bold"/>
                <a:ea typeface="Cabin Bold"/>
                <a:cs typeface="Cabin Bold"/>
                <a:sym typeface="Cabin Bold"/>
              </a:rPr>
              <a:t>LÝ DO CHỌN ĐỀ TÀI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77397" y="1313292"/>
            <a:ext cx="1333207" cy="3135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01"/>
              </a:lnSpc>
            </a:pPr>
            <a:r>
              <a:rPr lang="en-US" sz="18357" b="1">
                <a:solidFill>
                  <a:srgbClr val="F03F3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+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10267" y="9001123"/>
            <a:ext cx="11905933" cy="714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3999" b="1" spc="147" dirty="0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MỘT HỆ THỐNG VỪA TƯ VẤN – VỪA BÁN HÀNG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8950600" y="2401620"/>
            <a:ext cx="19050" cy="1294650"/>
          </a:xfrm>
          <a:prstGeom prst="line">
            <a:avLst/>
          </a:prstGeom>
          <a:ln w="38100" cap="flat">
            <a:solidFill>
              <a:srgbClr val="E5372E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755868" y="1974055"/>
            <a:ext cx="427565" cy="42756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372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8404" y="362474"/>
            <a:ext cx="7514715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30"/>
              </a:lnSpc>
            </a:pPr>
            <a:r>
              <a:rPr lang="en-US" sz="6275" b="1">
                <a:solidFill>
                  <a:srgbClr val="F03F36"/>
                </a:solidFill>
                <a:latin typeface="Cabin Bold"/>
                <a:ea typeface="Cabin Bold"/>
                <a:cs typeface="Cabin Bold"/>
                <a:sym typeface="Cabin Bold"/>
              </a:rPr>
              <a:t>Mục tiêu đề tài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26684" y="2589976"/>
            <a:ext cx="7574857" cy="533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2999" b="1" spc="110" dirty="0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XÂY DỰNG WEBSITE BÁN THUỐC BVTV</a:t>
            </a:r>
          </a:p>
        </p:txBody>
      </p:sp>
      <p:sp>
        <p:nvSpPr>
          <p:cNvPr id="8" name="AutoShape 8"/>
          <p:cNvSpPr/>
          <p:nvPr/>
        </p:nvSpPr>
        <p:spPr>
          <a:xfrm>
            <a:off x="9007750" y="2947164"/>
            <a:ext cx="1107806" cy="0"/>
          </a:xfrm>
          <a:prstGeom prst="line">
            <a:avLst/>
          </a:prstGeom>
          <a:ln w="38100" cap="flat">
            <a:solidFill>
              <a:srgbClr val="E5372E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H="1">
            <a:off x="8950600" y="4027191"/>
            <a:ext cx="19050" cy="1294650"/>
          </a:xfrm>
          <a:prstGeom prst="line">
            <a:avLst/>
          </a:prstGeom>
          <a:ln w="38100" cap="flat">
            <a:solidFill>
              <a:srgbClr val="E5372E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8755868" y="3599627"/>
            <a:ext cx="427565" cy="42756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372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08404" y="4306034"/>
            <a:ext cx="7239140" cy="533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2999" b="1" spc="110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TÍCH HỢP CHATBOT TƯ VẤN BỆNH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804694" y="4572735"/>
            <a:ext cx="1107806" cy="0"/>
          </a:xfrm>
          <a:prstGeom prst="line">
            <a:avLst/>
          </a:prstGeom>
          <a:ln w="38100" cap="flat">
            <a:solidFill>
              <a:srgbClr val="E5372E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H="1">
            <a:off x="8922025" y="5695625"/>
            <a:ext cx="19050" cy="1294650"/>
          </a:xfrm>
          <a:prstGeom prst="line">
            <a:avLst/>
          </a:prstGeom>
          <a:ln w="38100" cap="flat">
            <a:solidFill>
              <a:srgbClr val="E5372E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8727293" y="5268060"/>
            <a:ext cx="427565" cy="42756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372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8969650" y="6238550"/>
            <a:ext cx="1107806" cy="0"/>
          </a:xfrm>
          <a:prstGeom prst="line">
            <a:avLst/>
          </a:prstGeom>
          <a:ln w="38100" cap="flat">
            <a:solidFill>
              <a:srgbClr val="E5372E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8494168" y="5943275"/>
            <a:ext cx="9307373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99"/>
              </a:lnSpc>
              <a:spcBef>
                <a:spcPct val="0"/>
              </a:spcBef>
            </a:pPr>
            <a:r>
              <a:rPr lang="en-US" sz="2999" b="1" u="none" strike="noStrike" spc="110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GỢI Ý THUỐC ĐÚNG HOẠT CHẤT</a:t>
            </a:r>
          </a:p>
        </p:txBody>
      </p:sp>
      <p:sp>
        <p:nvSpPr>
          <p:cNvPr id="21" name="AutoShape 21"/>
          <p:cNvSpPr/>
          <p:nvPr/>
        </p:nvSpPr>
        <p:spPr>
          <a:xfrm flipH="1">
            <a:off x="8902975" y="7404302"/>
            <a:ext cx="19050" cy="1294650"/>
          </a:xfrm>
          <a:prstGeom prst="line">
            <a:avLst/>
          </a:prstGeom>
          <a:ln w="38100" cap="flat">
            <a:solidFill>
              <a:srgbClr val="E5372E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8708243" y="6976738"/>
            <a:ext cx="427565" cy="42756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372E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7747544" y="7947227"/>
            <a:ext cx="1107806" cy="0"/>
          </a:xfrm>
          <a:prstGeom prst="line">
            <a:avLst/>
          </a:prstGeom>
          <a:ln w="38100" cap="flat">
            <a:solidFill>
              <a:srgbClr val="E5372E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209550" y="7637664"/>
            <a:ext cx="7680869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99"/>
              </a:lnSpc>
              <a:spcBef>
                <a:spcPct val="0"/>
              </a:spcBef>
            </a:pPr>
            <a:r>
              <a:rPr lang="en-US" sz="2999" b="1" u="none" strike="noStrike" spc="110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HỖ TRỢ NÔNG DÂN, CỬA HÀNG VẬT TƯ 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689193" y="8708477"/>
            <a:ext cx="427565" cy="42756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372E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46328"/>
            <a:ext cx="5776889" cy="1076523"/>
            <a:chOff x="0" y="0"/>
            <a:chExt cx="1521485" cy="28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1485" cy="283529"/>
            </a:xfrm>
            <a:custGeom>
              <a:avLst/>
              <a:gdLst/>
              <a:ahLst/>
              <a:cxnLst/>
              <a:rect l="l" t="t" r="r" b="b"/>
              <a:pathLst>
                <a:path w="1521485" h="283529">
                  <a:moveTo>
                    <a:pt x="68348" y="0"/>
                  </a:moveTo>
                  <a:lnTo>
                    <a:pt x="1453137" y="0"/>
                  </a:lnTo>
                  <a:cubicBezTo>
                    <a:pt x="1490885" y="0"/>
                    <a:pt x="1521485" y="30600"/>
                    <a:pt x="1521485" y="68348"/>
                  </a:cubicBezTo>
                  <a:lnTo>
                    <a:pt x="1521485" y="215181"/>
                  </a:lnTo>
                  <a:cubicBezTo>
                    <a:pt x="1521485" y="252928"/>
                    <a:pt x="1490885" y="283529"/>
                    <a:pt x="1453137" y="283529"/>
                  </a:cubicBezTo>
                  <a:lnTo>
                    <a:pt x="68348" y="283529"/>
                  </a:lnTo>
                  <a:cubicBezTo>
                    <a:pt x="30600" y="283529"/>
                    <a:pt x="0" y="252928"/>
                    <a:pt x="0" y="215181"/>
                  </a:cubicBezTo>
                  <a:lnTo>
                    <a:pt x="0" y="68348"/>
                  </a:lnTo>
                  <a:cubicBezTo>
                    <a:pt x="0" y="30600"/>
                    <a:pt x="30600" y="0"/>
                    <a:pt x="68348" y="0"/>
                  </a:cubicBezTo>
                  <a:close/>
                </a:path>
              </a:pathLst>
            </a:custGeom>
            <a:solidFill>
              <a:srgbClr val="E5372E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21485" cy="32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 spc="92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NỘI DUNG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18272" y="1846328"/>
            <a:ext cx="5121889" cy="1076523"/>
            <a:chOff x="0" y="0"/>
            <a:chExt cx="1348975" cy="2835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8975" cy="283529"/>
            </a:xfrm>
            <a:custGeom>
              <a:avLst/>
              <a:gdLst/>
              <a:ahLst/>
              <a:cxnLst/>
              <a:rect l="l" t="t" r="r" b="b"/>
              <a:pathLst>
                <a:path w="1348975" h="283529">
                  <a:moveTo>
                    <a:pt x="77088" y="0"/>
                  </a:moveTo>
                  <a:lnTo>
                    <a:pt x="1271887" y="0"/>
                  </a:lnTo>
                  <a:cubicBezTo>
                    <a:pt x="1314461" y="0"/>
                    <a:pt x="1348975" y="34514"/>
                    <a:pt x="1348975" y="77088"/>
                  </a:cubicBezTo>
                  <a:lnTo>
                    <a:pt x="1348975" y="206440"/>
                  </a:lnTo>
                  <a:cubicBezTo>
                    <a:pt x="1348975" y="249015"/>
                    <a:pt x="1314461" y="283529"/>
                    <a:pt x="1271887" y="283529"/>
                  </a:cubicBezTo>
                  <a:lnTo>
                    <a:pt x="77088" y="283529"/>
                  </a:lnTo>
                  <a:cubicBezTo>
                    <a:pt x="56643" y="283529"/>
                    <a:pt x="37036" y="275407"/>
                    <a:pt x="22579" y="260950"/>
                  </a:cubicBezTo>
                  <a:cubicBezTo>
                    <a:pt x="8122" y="246493"/>
                    <a:pt x="0" y="226886"/>
                    <a:pt x="0" y="206440"/>
                  </a:cubicBezTo>
                  <a:lnTo>
                    <a:pt x="0" y="77088"/>
                  </a:lnTo>
                  <a:cubicBezTo>
                    <a:pt x="0" y="34514"/>
                    <a:pt x="34514" y="0"/>
                    <a:pt x="77088" y="0"/>
                  </a:cubicBezTo>
                  <a:close/>
                </a:path>
              </a:pathLst>
            </a:custGeom>
            <a:solidFill>
              <a:srgbClr val="E5372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48975" cy="321629"/>
            </a:xfrm>
            <a:prstGeom prst="rect">
              <a:avLst/>
            </a:prstGeom>
          </p:spPr>
          <p:txBody>
            <a:bodyPr lIns="177800" tIns="177800" rIns="177800" bIns="177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 spc="92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CHỨC NĂNG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00994" y="5602552"/>
            <a:ext cx="9686012" cy="1076523"/>
            <a:chOff x="0" y="0"/>
            <a:chExt cx="2551048" cy="2835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51049" cy="283529"/>
            </a:xfrm>
            <a:custGeom>
              <a:avLst/>
              <a:gdLst/>
              <a:ahLst/>
              <a:cxnLst/>
              <a:rect l="l" t="t" r="r" b="b"/>
              <a:pathLst>
                <a:path w="2551049" h="283529">
                  <a:moveTo>
                    <a:pt x="40764" y="0"/>
                  </a:moveTo>
                  <a:lnTo>
                    <a:pt x="2510285" y="0"/>
                  </a:lnTo>
                  <a:cubicBezTo>
                    <a:pt x="2521096" y="0"/>
                    <a:pt x="2531464" y="4295"/>
                    <a:pt x="2539109" y="11939"/>
                  </a:cubicBezTo>
                  <a:cubicBezTo>
                    <a:pt x="2546754" y="19584"/>
                    <a:pt x="2551049" y="29953"/>
                    <a:pt x="2551049" y="40764"/>
                  </a:cubicBezTo>
                  <a:lnTo>
                    <a:pt x="2551049" y="242765"/>
                  </a:lnTo>
                  <a:cubicBezTo>
                    <a:pt x="2551049" y="253576"/>
                    <a:pt x="2546754" y="263945"/>
                    <a:pt x="2539109" y="271589"/>
                  </a:cubicBezTo>
                  <a:cubicBezTo>
                    <a:pt x="2531464" y="279234"/>
                    <a:pt x="2521096" y="283529"/>
                    <a:pt x="2510285" y="283529"/>
                  </a:cubicBezTo>
                  <a:lnTo>
                    <a:pt x="40764" y="283529"/>
                  </a:lnTo>
                  <a:cubicBezTo>
                    <a:pt x="29953" y="283529"/>
                    <a:pt x="19584" y="279234"/>
                    <a:pt x="11939" y="271589"/>
                  </a:cubicBezTo>
                  <a:cubicBezTo>
                    <a:pt x="4295" y="263945"/>
                    <a:pt x="0" y="253576"/>
                    <a:pt x="0" y="242765"/>
                  </a:cubicBezTo>
                  <a:lnTo>
                    <a:pt x="0" y="40764"/>
                  </a:lnTo>
                  <a:cubicBezTo>
                    <a:pt x="0" y="29953"/>
                    <a:pt x="4295" y="19584"/>
                    <a:pt x="11939" y="11939"/>
                  </a:cubicBezTo>
                  <a:cubicBezTo>
                    <a:pt x="19584" y="4295"/>
                    <a:pt x="29953" y="0"/>
                    <a:pt x="40764" y="0"/>
                  </a:cubicBezTo>
                  <a:close/>
                </a:path>
              </a:pathLst>
            </a:custGeom>
            <a:solidFill>
              <a:srgbClr val="E5372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51048" cy="321629"/>
            </a:xfrm>
            <a:prstGeom prst="rect">
              <a:avLst/>
            </a:prstGeom>
          </p:spPr>
          <p:txBody>
            <a:bodyPr lIns="177800" tIns="177800" rIns="177800" bIns="177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 spc="92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CÔNG NGHỆ SỬ DỤNG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3154995" y="7440878"/>
            <a:ext cx="4395748" cy="1737092"/>
          </a:xfrm>
          <a:custGeom>
            <a:avLst/>
            <a:gdLst/>
            <a:ahLst/>
            <a:cxnLst/>
            <a:rect l="l" t="t" r="r" b="b"/>
            <a:pathLst>
              <a:path w="4395748" h="1737092">
                <a:moveTo>
                  <a:pt x="0" y="0"/>
                </a:moveTo>
                <a:lnTo>
                  <a:pt x="4395748" y="0"/>
                </a:lnTo>
                <a:lnTo>
                  <a:pt x="4395748" y="1737091"/>
                </a:lnTo>
                <a:lnTo>
                  <a:pt x="0" y="1737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001" b="-20599"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12" name="Freeform 12"/>
          <p:cNvSpPr/>
          <p:nvPr/>
        </p:nvSpPr>
        <p:spPr>
          <a:xfrm>
            <a:off x="1028700" y="7360547"/>
            <a:ext cx="3974352" cy="1897753"/>
          </a:xfrm>
          <a:custGeom>
            <a:avLst/>
            <a:gdLst/>
            <a:ahLst/>
            <a:cxnLst/>
            <a:rect l="l" t="t" r="r" b="b"/>
            <a:pathLst>
              <a:path w="3974352" h="1897753">
                <a:moveTo>
                  <a:pt x="0" y="0"/>
                </a:moveTo>
                <a:lnTo>
                  <a:pt x="3974352" y="0"/>
                </a:lnTo>
                <a:lnTo>
                  <a:pt x="3974352" y="1897753"/>
                </a:lnTo>
                <a:lnTo>
                  <a:pt x="0" y="1897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13" name="Freeform 13"/>
          <p:cNvSpPr/>
          <p:nvPr/>
        </p:nvSpPr>
        <p:spPr>
          <a:xfrm>
            <a:off x="7448777" y="7360547"/>
            <a:ext cx="3390447" cy="1940660"/>
          </a:xfrm>
          <a:custGeom>
            <a:avLst/>
            <a:gdLst/>
            <a:ahLst/>
            <a:cxnLst/>
            <a:rect l="l" t="t" r="r" b="b"/>
            <a:pathLst>
              <a:path w="3390447" h="1940660">
                <a:moveTo>
                  <a:pt x="0" y="0"/>
                </a:moveTo>
                <a:lnTo>
                  <a:pt x="3390446" y="0"/>
                </a:lnTo>
                <a:lnTo>
                  <a:pt x="3390446" y="1940660"/>
                </a:lnTo>
                <a:lnTo>
                  <a:pt x="0" y="1940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14" name="TextBox 14"/>
          <p:cNvSpPr txBox="1"/>
          <p:nvPr/>
        </p:nvSpPr>
        <p:spPr>
          <a:xfrm>
            <a:off x="508404" y="276749"/>
            <a:ext cx="10512049" cy="104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8"/>
              </a:lnSpc>
            </a:pPr>
            <a:r>
              <a:rPr lang="en-US" sz="6275" b="1">
                <a:solidFill>
                  <a:srgbClr val="F03F36"/>
                </a:solidFill>
                <a:latin typeface="Cabin Bold"/>
                <a:ea typeface="Cabin Bold"/>
                <a:cs typeface="Cabin Bold"/>
                <a:sym typeface="Cabin Bold"/>
              </a:rPr>
              <a:t>PHẠM VI NGHIÊN CỨU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160977"/>
            <a:ext cx="5728913" cy="216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trike="noStrike" spc="92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TẬP TRUNG VÀO BÁN THUỐC BẢO VỆ THỰC VẬT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trike="noStrike" spc="92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TƯ VẤN BỆNH HẠI CÂY TRỒNG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trike="noStrike" spc="92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GỢI Ý THUỐC ĐIỀU TRỊ PHÙ HỢP THEO BỆNH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18272" y="3160977"/>
            <a:ext cx="5875506" cy="216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 spc="92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XEM, TÌM KIẾM, LỌC SẢN PHẨM 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 spc="92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QUẢN LÝ GIỎ HÀNG, ĐẶT HÀNG, THEO DÕI ĐƠN HÀNG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 spc="92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TƯ VẤN BỆNH CÂY TRỒNG BẰNG CHATBOT THÔNG MINH (RAG)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51CFCD5-43C2-D6FE-C6BB-302FE6D2B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8287999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404" y="276749"/>
            <a:ext cx="10512049" cy="104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8"/>
              </a:lnSpc>
            </a:pPr>
            <a:r>
              <a:rPr lang="en-US" sz="6275" b="1">
                <a:solidFill>
                  <a:srgbClr val="F03F36"/>
                </a:solidFill>
                <a:latin typeface="Cabin Bold"/>
                <a:ea typeface="Cabin Bold"/>
                <a:cs typeface="Cabin Bold"/>
                <a:sym typeface="Cabin Bold"/>
              </a:rPr>
              <a:t>ĐỐI TƯỢNG SỬ DỤNG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8404" y="2525320"/>
            <a:ext cx="6206808" cy="117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199" b="1" spc="118">
                <a:solidFill>
                  <a:srgbClr val="E5372E"/>
                </a:solidFill>
                <a:latin typeface="Cabin Bold"/>
                <a:ea typeface="Cabin Bold"/>
                <a:cs typeface="Cabin Bold"/>
                <a:sym typeface="Cabin Bold"/>
              </a:rPr>
              <a:t>NGƯỜI DÙNG THÔNG THƯỜNG 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199" b="1" spc="118">
                <a:solidFill>
                  <a:srgbClr val="E5372E"/>
                </a:solidFill>
                <a:latin typeface="Cabin Bold"/>
                <a:ea typeface="Cabin Bold"/>
                <a:cs typeface="Cabin Bold"/>
                <a:sym typeface="Cabin Bold"/>
              </a:rPr>
              <a:t>(KHÁCH HÀNG)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28475" y="2525320"/>
            <a:ext cx="5330825" cy="117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r>
              <a:rPr lang="en-US" sz="3199" b="1" u="none" strike="noStrike" spc="118">
                <a:solidFill>
                  <a:srgbClr val="E5372E"/>
                </a:solidFill>
                <a:latin typeface="Cabin Bold"/>
                <a:ea typeface="Cabin Bold"/>
                <a:cs typeface="Cabin Bold"/>
                <a:sym typeface="Cabin Bold"/>
              </a:rPr>
              <a:t>QUẢN TRỊ VIÊN HỆ THỐNG </a:t>
            </a:r>
          </a:p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r>
              <a:rPr lang="en-US" sz="3199" b="1" u="none" strike="noStrike" spc="118">
                <a:solidFill>
                  <a:srgbClr val="E5372E"/>
                </a:solidFill>
                <a:latin typeface="Cabin Bold"/>
                <a:ea typeface="Cabin Bold"/>
                <a:cs typeface="Cabin Bold"/>
                <a:sym typeface="Cabin Bold"/>
              </a:rPr>
              <a:t>(ADMIN)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88292" y="6663686"/>
            <a:ext cx="3711416" cy="117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r>
              <a:rPr lang="en-US" sz="3199" b="1" u="none" strike="noStrike" spc="118">
                <a:solidFill>
                  <a:srgbClr val="E5372E"/>
                </a:solidFill>
                <a:latin typeface="Cabin Bold"/>
                <a:ea typeface="Cabin Bold"/>
                <a:cs typeface="Cabin Bold"/>
                <a:sym typeface="Cabin Bold"/>
              </a:rPr>
              <a:t> KHÁCH TRUY CẬP </a:t>
            </a:r>
          </a:p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r>
              <a:rPr lang="en-US" sz="3199" b="1" u="none" strike="noStrike" spc="118">
                <a:solidFill>
                  <a:srgbClr val="E5372E"/>
                </a:solidFill>
                <a:latin typeface="Cabin Bold"/>
                <a:ea typeface="Cabin Bold"/>
                <a:cs typeface="Cabin Bold"/>
                <a:sym typeface="Cabin Bold"/>
              </a:rPr>
              <a:t>(VISITOR)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8404" y="3973944"/>
            <a:ext cx="6509703" cy="165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MUA THUỐC BVTV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TRA CỨU THÔNG TIN SẢN PHẨM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SỬ DỤNG CHATBOT TƯ VẤN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74367" y="3973944"/>
            <a:ext cx="5638959" cy="221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4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u="none" strike="noStrike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QUẢN LÝ SẢN PHẨM</a:t>
            </a:r>
          </a:p>
          <a:p>
            <a:pPr marL="647695" lvl="1" indent="-323848" algn="l">
              <a:lnSpc>
                <a:spcPts val="44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u="none" strike="noStrike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QUẢN LÝ ĐƠN HÀNG</a:t>
            </a:r>
          </a:p>
          <a:p>
            <a:pPr marL="647695" lvl="1" indent="-323848" algn="l">
              <a:lnSpc>
                <a:spcPts val="44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u="none" strike="noStrike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QUẢN LÝ NGƯỜI DÙNG</a:t>
            </a:r>
          </a:p>
          <a:p>
            <a:pPr marL="647695" lvl="1" indent="-323848" algn="l">
              <a:lnSpc>
                <a:spcPts val="44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u="none" strike="noStrike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THỐNG KÊ &amp; KHO TRI THỨC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64429" y="8391524"/>
            <a:ext cx="7341971" cy="1095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5" lvl="1" indent="-323848" algn="l">
              <a:lnSpc>
                <a:spcPts val="44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u="none" strike="noStrike" spc="11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XEM THÔNG TIN GIỚI THIỆU</a:t>
            </a:r>
          </a:p>
          <a:p>
            <a:pPr marL="647695" lvl="1" indent="-323848" algn="l">
              <a:lnSpc>
                <a:spcPts val="44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u="none" strike="noStrike" spc="11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XEM DANH SÁCH SẢN PHẨM CƠ BẢN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1245" y="2625261"/>
            <a:ext cx="5776889" cy="1076523"/>
            <a:chOff x="0" y="0"/>
            <a:chExt cx="1521485" cy="28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1485" cy="283529"/>
            </a:xfrm>
            <a:custGeom>
              <a:avLst/>
              <a:gdLst/>
              <a:ahLst/>
              <a:cxnLst/>
              <a:rect l="l" t="t" r="r" b="b"/>
              <a:pathLst>
                <a:path w="1521485" h="283529">
                  <a:moveTo>
                    <a:pt x="68348" y="0"/>
                  </a:moveTo>
                  <a:lnTo>
                    <a:pt x="1453137" y="0"/>
                  </a:lnTo>
                  <a:cubicBezTo>
                    <a:pt x="1490885" y="0"/>
                    <a:pt x="1521485" y="30600"/>
                    <a:pt x="1521485" y="68348"/>
                  </a:cubicBezTo>
                  <a:lnTo>
                    <a:pt x="1521485" y="215181"/>
                  </a:lnTo>
                  <a:cubicBezTo>
                    <a:pt x="1521485" y="252928"/>
                    <a:pt x="1490885" y="283529"/>
                    <a:pt x="1453137" y="283529"/>
                  </a:cubicBezTo>
                  <a:lnTo>
                    <a:pt x="68348" y="283529"/>
                  </a:lnTo>
                  <a:cubicBezTo>
                    <a:pt x="30600" y="283529"/>
                    <a:pt x="0" y="252928"/>
                    <a:pt x="0" y="215181"/>
                  </a:cubicBezTo>
                  <a:lnTo>
                    <a:pt x="0" y="68348"/>
                  </a:lnTo>
                  <a:cubicBezTo>
                    <a:pt x="0" y="30600"/>
                    <a:pt x="30600" y="0"/>
                    <a:pt x="68348" y="0"/>
                  </a:cubicBezTo>
                  <a:close/>
                </a:path>
              </a:pathLst>
            </a:custGeom>
            <a:solidFill>
              <a:srgbClr val="E5372E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521485" cy="35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spc="136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BÁN HÀNG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1245" y="5013093"/>
            <a:ext cx="5776889" cy="1076523"/>
            <a:chOff x="0" y="0"/>
            <a:chExt cx="1521485" cy="2835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1485" cy="283529"/>
            </a:xfrm>
            <a:custGeom>
              <a:avLst/>
              <a:gdLst/>
              <a:ahLst/>
              <a:cxnLst/>
              <a:rect l="l" t="t" r="r" b="b"/>
              <a:pathLst>
                <a:path w="1521485" h="283529">
                  <a:moveTo>
                    <a:pt x="68348" y="0"/>
                  </a:moveTo>
                  <a:lnTo>
                    <a:pt x="1453137" y="0"/>
                  </a:lnTo>
                  <a:cubicBezTo>
                    <a:pt x="1490885" y="0"/>
                    <a:pt x="1521485" y="30600"/>
                    <a:pt x="1521485" y="68348"/>
                  </a:cubicBezTo>
                  <a:lnTo>
                    <a:pt x="1521485" y="215181"/>
                  </a:lnTo>
                  <a:cubicBezTo>
                    <a:pt x="1521485" y="252928"/>
                    <a:pt x="1490885" y="283529"/>
                    <a:pt x="1453137" y="283529"/>
                  </a:cubicBezTo>
                  <a:lnTo>
                    <a:pt x="68348" y="283529"/>
                  </a:lnTo>
                  <a:cubicBezTo>
                    <a:pt x="30600" y="283529"/>
                    <a:pt x="0" y="252928"/>
                    <a:pt x="0" y="215181"/>
                  </a:cubicBezTo>
                  <a:lnTo>
                    <a:pt x="0" y="68348"/>
                  </a:lnTo>
                  <a:cubicBezTo>
                    <a:pt x="0" y="30600"/>
                    <a:pt x="30600" y="0"/>
                    <a:pt x="68348" y="0"/>
                  </a:cubicBezTo>
                  <a:close/>
                </a:path>
              </a:pathLst>
            </a:custGeom>
            <a:solidFill>
              <a:srgbClr val="E5372E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521485" cy="35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spc="136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CHATBOT TƯ VẤN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1245" y="7404066"/>
            <a:ext cx="5776889" cy="1076523"/>
            <a:chOff x="0" y="0"/>
            <a:chExt cx="1521485" cy="2835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1485" cy="283529"/>
            </a:xfrm>
            <a:custGeom>
              <a:avLst/>
              <a:gdLst/>
              <a:ahLst/>
              <a:cxnLst/>
              <a:rect l="l" t="t" r="r" b="b"/>
              <a:pathLst>
                <a:path w="1521485" h="283529">
                  <a:moveTo>
                    <a:pt x="68348" y="0"/>
                  </a:moveTo>
                  <a:lnTo>
                    <a:pt x="1453137" y="0"/>
                  </a:lnTo>
                  <a:cubicBezTo>
                    <a:pt x="1490885" y="0"/>
                    <a:pt x="1521485" y="30600"/>
                    <a:pt x="1521485" y="68348"/>
                  </a:cubicBezTo>
                  <a:lnTo>
                    <a:pt x="1521485" y="215181"/>
                  </a:lnTo>
                  <a:cubicBezTo>
                    <a:pt x="1521485" y="252928"/>
                    <a:pt x="1490885" y="283529"/>
                    <a:pt x="1453137" y="283529"/>
                  </a:cubicBezTo>
                  <a:lnTo>
                    <a:pt x="68348" y="283529"/>
                  </a:lnTo>
                  <a:cubicBezTo>
                    <a:pt x="30600" y="283529"/>
                    <a:pt x="0" y="252928"/>
                    <a:pt x="0" y="215181"/>
                  </a:cubicBezTo>
                  <a:lnTo>
                    <a:pt x="0" y="68348"/>
                  </a:lnTo>
                  <a:cubicBezTo>
                    <a:pt x="0" y="30600"/>
                    <a:pt x="30600" y="0"/>
                    <a:pt x="68348" y="0"/>
                  </a:cubicBezTo>
                  <a:close/>
                </a:path>
              </a:pathLst>
            </a:custGeom>
            <a:solidFill>
              <a:srgbClr val="E5372E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521485" cy="35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spc="136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QUẢN TRỊ HỆ THỐNG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285665" y="481410"/>
            <a:ext cx="3614040" cy="1672584"/>
            <a:chOff x="0" y="0"/>
            <a:chExt cx="951846" cy="4405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1846" cy="440516"/>
            </a:xfrm>
            <a:custGeom>
              <a:avLst/>
              <a:gdLst/>
              <a:ahLst/>
              <a:cxnLst/>
              <a:rect l="l" t="t" r="r" b="b"/>
              <a:pathLst>
                <a:path w="951846" h="440516">
                  <a:moveTo>
                    <a:pt x="0" y="0"/>
                  </a:moveTo>
                  <a:lnTo>
                    <a:pt x="951846" y="0"/>
                  </a:lnTo>
                  <a:lnTo>
                    <a:pt x="951846" y="440516"/>
                  </a:lnTo>
                  <a:lnTo>
                    <a:pt x="0" y="440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951846" cy="535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199" spc="118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FRONTEND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68441" y="3040949"/>
            <a:ext cx="5248488" cy="3757911"/>
            <a:chOff x="0" y="-95250"/>
            <a:chExt cx="1382318" cy="989738"/>
          </a:xfrm>
        </p:grpSpPr>
        <p:sp>
          <p:nvSpPr>
            <p:cNvPr id="15" name="Freeform 15"/>
            <p:cNvSpPr/>
            <p:nvPr/>
          </p:nvSpPr>
          <p:spPr>
            <a:xfrm>
              <a:off x="0" y="-23151"/>
              <a:ext cx="1382318" cy="894488"/>
            </a:xfrm>
            <a:custGeom>
              <a:avLst/>
              <a:gdLst/>
              <a:ahLst/>
              <a:cxnLst/>
              <a:rect l="l" t="t" r="r" b="b"/>
              <a:pathLst>
                <a:path w="1382318" h="894488">
                  <a:moveTo>
                    <a:pt x="0" y="0"/>
                  </a:moveTo>
                  <a:lnTo>
                    <a:pt x="1382318" y="0"/>
                  </a:lnTo>
                  <a:lnTo>
                    <a:pt x="1382318" y="894488"/>
                  </a:lnTo>
                  <a:lnTo>
                    <a:pt x="0" y="894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382318" cy="989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199" spc="118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API + CHATBOT RAG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85665" y="8053025"/>
            <a:ext cx="3614040" cy="1672584"/>
            <a:chOff x="0" y="0"/>
            <a:chExt cx="951846" cy="4405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1846" cy="440516"/>
            </a:xfrm>
            <a:custGeom>
              <a:avLst/>
              <a:gdLst/>
              <a:ahLst/>
              <a:cxnLst/>
              <a:rect l="l" t="t" r="r" b="b"/>
              <a:pathLst>
                <a:path w="951846" h="440516">
                  <a:moveTo>
                    <a:pt x="0" y="0"/>
                  </a:moveTo>
                  <a:lnTo>
                    <a:pt x="951846" y="0"/>
                  </a:lnTo>
                  <a:lnTo>
                    <a:pt x="951846" y="440516"/>
                  </a:lnTo>
                  <a:lnTo>
                    <a:pt x="0" y="440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951846" cy="535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199" spc="118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MONGODB </a:t>
              </a:r>
            </a:p>
            <a:p>
              <a:pPr algn="ctr">
                <a:lnSpc>
                  <a:spcPts val="4799"/>
                </a:lnSpc>
              </a:pPr>
              <a:r>
                <a:rPr lang="en-US" sz="3199" spc="118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+ KHO TRI THỨC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48452" y="4166708"/>
            <a:ext cx="2472340" cy="1953584"/>
            <a:chOff x="0" y="0"/>
            <a:chExt cx="1028631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8631" cy="812800"/>
            </a:xfrm>
            <a:custGeom>
              <a:avLst/>
              <a:gdLst/>
              <a:ahLst/>
              <a:cxnLst/>
              <a:rect l="l" t="t" r="r" b="b"/>
              <a:pathLst>
                <a:path w="1028631" h="812800">
                  <a:moveTo>
                    <a:pt x="514316" y="0"/>
                  </a:moveTo>
                  <a:cubicBezTo>
                    <a:pt x="230267" y="0"/>
                    <a:pt x="0" y="181951"/>
                    <a:pt x="0" y="406400"/>
                  </a:cubicBezTo>
                  <a:cubicBezTo>
                    <a:pt x="0" y="630849"/>
                    <a:pt x="230267" y="812800"/>
                    <a:pt x="514316" y="812800"/>
                  </a:cubicBezTo>
                  <a:cubicBezTo>
                    <a:pt x="798364" y="812800"/>
                    <a:pt x="1028631" y="630849"/>
                    <a:pt x="1028631" y="406400"/>
                  </a:cubicBezTo>
                  <a:cubicBezTo>
                    <a:pt x="1028631" y="181951"/>
                    <a:pt x="798364" y="0"/>
                    <a:pt x="5143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434" y="9525"/>
              <a:ext cx="835763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r>
                <a:rPr lang="en-US" sz="2499" b="1" spc="92">
                  <a:solidFill>
                    <a:srgbClr val="000000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API GEMINI </a:t>
              </a:r>
            </a:p>
            <a:p>
              <a:pPr algn="ctr">
                <a:lnSpc>
                  <a:spcPts val="3749"/>
                </a:lnSpc>
              </a:pPr>
              <a:r>
                <a:rPr lang="en-US" sz="2499" b="1" spc="92">
                  <a:solidFill>
                    <a:srgbClr val="000000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TẠO SINH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08404" y="276749"/>
            <a:ext cx="7140048" cy="104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8"/>
              </a:lnSpc>
            </a:pPr>
            <a:r>
              <a:rPr lang="en-US" sz="6275" b="1">
                <a:solidFill>
                  <a:srgbClr val="F03F36"/>
                </a:solidFill>
                <a:latin typeface="Cabin Bold"/>
                <a:ea typeface="Cabin Bold"/>
                <a:cs typeface="Cabin Bold"/>
                <a:sym typeface="Cabin Bold"/>
              </a:rPr>
              <a:t>Tổng quan hệ thống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81726" y="3367456"/>
            <a:ext cx="2183494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r>
              <a:rPr lang="en-US" sz="3199" u="none" strike="noStrike" spc="118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BACKEND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3477787" y="2380316"/>
            <a:ext cx="0" cy="795963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6" name="AutoShape 26"/>
          <p:cNvSpPr/>
          <p:nvPr/>
        </p:nvSpPr>
        <p:spPr>
          <a:xfrm>
            <a:off x="14771218" y="2367559"/>
            <a:ext cx="0" cy="795963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13515887" y="7049742"/>
            <a:ext cx="0" cy="795963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8" name="AutoShape 28"/>
          <p:cNvSpPr/>
          <p:nvPr/>
        </p:nvSpPr>
        <p:spPr>
          <a:xfrm>
            <a:off x="14809318" y="7036985"/>
            <a:ext cx="0" cy="795963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flipH="1">
            <a:off x="10390257" y="4777373"/>
            <a:ext cx="795963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0" name="AutoShape 30"/>
          <p:cNvSpPr/>
          <p:nvPr/>
        </p:nvSpPr>
        <p:spPr>
          <a:xfrm flipH="1">
            <a:off x="10403013" y="5424088"/>
            <a:ext cx="795963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11906" y="2813149"/>
            <a:ext cx="8084466" cy="4660702"/>
          </a:xfrm>
          <a:custGeom>
            <a:avLst/>
            <a:gdLst/>
            <a:ahLst/>
            <a:cxnLst/>
            <a:rect l="l" t="t" r="r" b="b"/>
            <a:pathLst>
              <a:path w="8084466" h="4660702">
                <a:moveTo>
                  <a:pt x="0" y="0"/>
                </a:moveTo>
                <a:lnTo>
                  <a:pt x="8084466" y="0"/>
                </a:lnTo>
                <a:lnTo>
                  <a:pt x="8084466" y="4660702"/>
                </a:lnTo>
                <a:lnTo>
                  <a:pt x="0" y="466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0" b="-14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8404" y="276749"/>
            <a:ext cx="8161866" cy="104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8"/>
              </a:lnSpc>
            </a:pPr>
            <a:r>
              <a:rPr lang="en-US" sz="6275" b="1">
                <a:solidFill>
                  <a:srgbClr val="F03F36"/>
                </a:solidFill>
                <a:latin typeface="Cabin Bold"/>
                <a:ea typeface="Cabin Bold"/>
                <a:cs typeface="Cabin Bold"/>
                <a:sym typeface="Cabin Bold"/>
              </a:rPr>
              <a:t>HỆ THỐNG BÁN HÀNG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3071338"/>
            <a:ext cx="7118827" cy="221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NGƯỜI DÙNG TRUY CẬP HỆ THỐNG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XEM SẢN PHẨM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THÊM VÀO GIỎ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THANH TOÁN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9107" y="2210285"/>
            <a:ext cx="4673500" cy="60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4"/>
              </a:lnSpc>
            </a:pPr>
            <a:r>
              <a:rPr lang="en-US" sz="3593" b="1">
                <a:solidFill>
                  <a:srgbClr val="F03F36"/>
                </a:solidFill>
                <a:latin typeface="Cabin Bold"/>
                <a:ea typeface="Cabin Bold"/>
                <a:cs typeface="Cabin Bold"/>
                <a:sym typeface="Cabin Bold"/>
              </a:rPr>
              <a:t>KHÔNG CẦN TƯ VẤN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370" y="6766139"/>
            <a:ext cx="7614761" cy="390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NGƯỜI DÙNG TRUY CẬP HỆ THỐNG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TƯƠNG TÁC VỚI HỆ THỐNG TƯ VẤN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HỆ THỐNG GỢI Ý SẢN PHẨM PHÙ HỢP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NGƯỜI DÙNG XEM SẢN PHẨM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THÊM VÀO GIỎ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1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THANH TOÁN</a:t>
            </a:r>
          </a:p>
          <a:p>
            <a:pPr algn="l">
              <a:lnSpc>
                <a:spcPts val="4499"/>
              </a:lnSpc>
            </a:pPr>
            <a:endParaRPr lang="en-US" sz="2999" spc="110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04477" y="5905087"/>
            <a:ext cx="4673500" cy="60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4"/>
              </a:lnSpc>
            </a:pPr>
            <a:r>
              <a:rPr lang="en-US" sz="3593" b="1">
                <a:solidFill>
                  <a:srgbClr val="F03F36"/>
                </a:solidFill>
                <a:latin typeface="Cabin Bold"/>
                <a:ea typeface="Cabin Bold"/>
                <a:cs typeface="Cabin Bold"/>
                <a:sym typeface="Cabin Bold"/>
              </a:rPr>
              <a:t>TƯ VẤN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8404" y="2974911"/>
            <a:ext cx="16998736" cy="4921353"/>
          </a:xfrm>
          <a:custGeom>
            <a:avLst/>
            <a:gdLst/>
            <a:ahLst/>
            <a:cxnLst/>
            <a:rect l="l" t="t" r="r" b="b"/>
            <a:pathLst>
              <a:path w="16998736" h="4921353">
                <a:moveTo>
                  <a:pt x="0" y="0"/>
                </a:moveTo>
                <a:lnTo>
                  <a:pt x="16998736" y="0"/>
                </a:lnTo>
                <a:lnTo>
                  <a:pt x="16998736" y="4921353"/>
                </a:lnTo>
                <a:lnTo>
                  <a:pt x="0" y="4921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8404" y="276749"/>
            <a:ext cx="7140048" cy="104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8"/>
              </a:lnSpc>
            </a:pPr>
            <a:r>
              <a:rPr lang="en-US" sz="6275" b="1">
                <a:solidFill>
                  <a:srgbClr val="F03F36"/>
                </a:solidFill>
                <a:latin typeface="Cabin Bold"/>
                <a:ea typeface="Cabin Bold"/>
                <a:cs typeface="Cabin Bold"/>
                <a:sym typeface="Cabin Bold"/>
              </a:rPr>
              <a:t>QUY TRÌNH TƯ VẤN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404" y="276749"/>
            <a:ext cx="8161866" cy="104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8"/>
              </a:lnSpc>
            </a:pPr>
            <a:r>
              <a:rPr lang="en-US" sz="6275" b="1">
                <a:solidFill>
                  <a:srgbClr val="F03F36"/>
                </a:solidFill>
                <a:latin typeface="Cabin Bold"/>
                <a:ea typeface="Cabin Bold"/>
                <a:cs typeface="Cabin Bold"/>
                <a:sym typeface="Cabin Bold"/>
              </a:rPr>
              <a:t>KẾT QUẢ ĐẠT ĐƯỢC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2097" y="2446589"/>
            <a:ext cx="15854303" cy="6981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12256" lvl="1" indent="-556128" algn="l">
              <a:lnSpc>
                <a:spcPts val="11282"/>
              </a:lnSpc>
              <a:buFont typeface="Arial"/>
              <a:buChar char="•"/>
            </a:pPr>
            <a:r>
              <a:rPr lang="en-US" sz="5151" spc="19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WEBSITE HOẠT ĐỘNG ỔN ĐỊNH</a:t>
            </a:r>
          </a:p>
          <a:p>
            <a:pPr marL="1112256" lvl="1" indent="-556128" algn="l">
              <a:lnSpc>
                <a:spcPts val="11282"/>
              </a:lnSpc>
              <a:buFont typeface="Arial"/>
              <a:buChar char="•"/>
            </a:pPr>
            <a:r>
              <a:rPr lang="en-US" sz="5151" spc="19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CHATBOT TƯ VẤN CHÍNH XÁC</a:t>
            </a:r>
          </a:p>
          <a:p>
            <a:pPr marL="1112256" lvl="1" indent="-556128" algn="l">
              <a:lnSpc>
                <a:spcPts val="11282"/>
              </a:lnSpc>
              <a:buFont typeface="Arial"/>
              <a:buChar char="•"/>
            </a:pPr>
            <a:r>
              <a:rPr lang="en-US" sz="5151" spc="19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GỢI Ý THUỐC ĐÚNG BỆNH</a:t>
            </a:r>
          </a:p>
          <a:p>
            <a:pPr marL="1112256" lvl="1" indent="-556128" algn="l">
              <a:lnSpc>
                <a:spcPts val="11282"/>
              </a:lnSpc>
              <a:buFont typeface="Arial"/>
              <a:buChar char="•"/>
            </a:pPr>
            <a:r>
              <a:rPr lang="en-US" sz="5151" spc="19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CÓ THỂ TRIỂN KHAI THỰC TẾ CHO CỬA HÀNG</a:t>
            </a:r>
          </a:p>
          <a:p>
            <a:pPr algn="l">
              <a:lnSpc>
                <a:spcPts val="11282"/>
              </a:lnSpc>
            </a:pPr>
            <a:endParaRPr lang="en-US" sz="5151" spc="190" dirty="0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404" y="276749"/>
            <a:ext cx="8161866" cy="104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8"/>
              </a:lnSpc>
            </a:pPr>
            <a:r>
              <a:rPr lang="en-US" sz="6275" b="1">
                <a:solidFill>
                  <a:srgbClr val="F03F36"/>
                </a:solidFill>
                <a:latin typeface="Cabin Bold"/>
                <a:ea typeface="Cabin Bold"/>
                <a:cs typeface="Cabin Bold"/>
                <a:sym typeface="Cabin Bold"/>
              </a:rPr>
              <a:t>HƯỚNG PHÁT TRIỂN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15227" y="2276500"/>
            <a:ext cx="12194541" cy="698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12256" lvl="1" indent="-556128" algn="l">
              <a:lnSpc>
                <a:spcPts val="11282"/>
              </a:lnSpc>
              <a:buFont typeface="Arial"/>
              <a:buChar char="•"/>
            </a:pPr>
            <a:r>
              <a:rPr lang="en-US" sz="5151" spc="19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MỞ RỘNG KHO BỆNH CÂY TRỒNG</a:t>
            </a:r>
          </a:p>
          <a:p>
            <a:pPr marL="1112256" lvl="1" indent="-556128" algn="l">
              <a:lnSpc>
                <a:spcPts val="11282"/>
              </a:lnSpc>
              <a:buFont typeface="Arial"/>
              <a:buChar char="•"/>
            </a:pPr>
            <a:r>
              <a:rPr lang="en-US" sz="5151" spc="19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TÍCH HỢP THANH TOÁN ĐIỆN TỬ</a:t>
            </a:r>
          </a:p>
          <a:p>
            <a:pPr marL="1112256" lvl="1" indent="-556128" algn="l">
              <a:lnSpc>
                <a:spcPts val="11282"/>
              </a:lnSpc>
              <a:buFont typeface="Arial"/>
              <a:buChar char="•"/>
            </a:pPr>
            <a:r>
              <a:rPr lang="en-US" sz="5151" spc="19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NHẬN DIỆN BỆNH BẰNG HÌNH ẢNH </a:t>
            </a:r>
          </a:p>
          <a:p>
            <a:pPr marL="1112256" lvl="1" indent="-556128" algn="l">
              <a:lnSpc>
                <a:spcPts val="11282"/>
              </a:lnSpc>
              <a:buFont typeface="Arial"/>
              <a:buChar char="•"/>
            </a:pPr>
            <a:r>
              <a:rPr lang="en-US" sz="5151" spc="19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TRIỂN KHAI TRÊN MOBILE</a:t>
            </a:r>
          </a:p>
          <a:p>
            <a:pPr algn="l">
              <a:lnSpc>
                <a:spcPts val="11282"/>
              </a:lnSpc>
            </a:pPr>
            <a:endParaRPr lang="en-US" sz="5151" spc="190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399</Words>
  <Application>Microsoft Office PowerPoint</Application>
  <PresentationFormat>Custom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Noto Sans Bold</vt:lpstr>
      <vt:lpstr>Cabin</vt:lpstr>
      <vt:lpstr>Montserrat</vt:lpstr>
      <vt:lpstr>Calibri</vt:lpstr>
      <vt:lpstr>Arial</vt:lpstr>
      <vt:lpstr>Cabin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SLIDE_DACN</dc:title>
  <cp:lastModifiedBy>Huynh Huu Loc</cp:lastModifiedBy>
  <cp:revision>2</cp:revision>
  <dcterms:created xsi:type="dcterms:W3CDTF">2006-08-16T00:00:00Z</dcterms:created>
  <dcterms:modified xsi:type="dcterms:W3CDTF">2026-01-09T02:23:49Z</dcterms:modified>
  <dc:identifier>DAG9371TQ6A</dc:identifier>
</cp:coreProperties>
</file>